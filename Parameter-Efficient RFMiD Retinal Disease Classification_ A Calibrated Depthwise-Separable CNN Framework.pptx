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bril Fatface" panose="02000503000000020003" pitchFamily="2" charset="0"/>
      <p:regular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Daj3Bh3y5aFcRkaL5k6Mgp6jX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658" y="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abf12a0b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babf12a0b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abf12a0b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3babf12a0b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abf12a0b4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babf12a0b4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abf12a0b4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babf12a0b4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abf12a0b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3babf12a0b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028700" y="9258300"/>
            <a:ext cx="2343200" cy="166258"/>
          </a:xfrm>
          <a:custGeom>
            <a:avLst/>
            <a:gdLst/>
            <a:ahLst/>
            <a:cxnLst/>
            <a:rect l="l" t="t" r="r" b="b"/>
            <a:pathLst>
              <a:path w="2343200" h="166258" extrusionOk="0">
                <a:moveTo>
                  <a:pt x="0" y="0"/>
                </a:moveTo>
                <a:lnTo>
                  <a:pt x="2343200" y="0"/>
                </a:lnTo>
                <a:lnTo>
                  <a:pt x="2343200" y="166258"/>
                </a:lnTo>
                <a:lnTo>
                  <a:pt x="0" y="166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5358722" y="663529"/>
            <a:ext cx="1900578" cy="824779"/>
          </a:xfrm>
          <a:custGeom>
            <a:avLst/>
            <a:gdLst/>
            <a:ahLst/>
            <a:cxnLst/>
            <a:rect l="l" t="t" r="r" b="b"/>
            <a:pathLst>
              <a:path w="1900578" h="824779" extrusionOk="0">
                <a:moveTo>
                  <a:pt x="0" y="0"/>
                </a:moveTo>
                <a:lnTo>
                  <a:pt x="1900578" y="0"/>
                </a:lnTo>
                <a:lnTo>
                  <a:pt x="1900578" y="824778"/>
                </a:lnTo>
                <a:lnTo>
                  <a:pt x="0" y="824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4051626" y="6005355"/>
            <a:ext cx="3207674" cy="7200900"/>
          </a:xfrm>
          <a:custGeom>
            <a:avLst/>
            <a:gdLst/>
            <a:ahLst/>
            <a:cxnLst/>
            <a:rect l="l" t="t" r="r" b="b"/>
            <a:pathLst>
              <a:path w="3207674" h="7200900" extrusionOk="0">
                <a:moveTo>
                  <a:pt x="0" y="0"/>
                </a:moveTo>
                <a:lnTo>
                  <a:pt x="3207674" y="0"/>
                </a:lnTo>
                <a:lnTo>
                  <a:pt x="3207674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-307373" y="-88275"/>
            <a:ext cx="3630502" cy="3630502"/>
          </a:xfrm>
          <a:custGeom>
            <a:avLst/>
            <a:gdLst/>
            <a:ahLst/>
            <a:cxnLst/>
            <a:rect l="l" t="t" r="r" b="b"/>
            <a:pathLst>
              <a:path w="3630502" h="3630502" extrusionOk="0">
                <a:moveTo>
                  <a:pt x="0" y="0"/>
                </a:moveTo>
                <a:lnTo>
                  <a:pt x="3630502" y="0"/>
                </a:lnTo>
                <a:lnTo>
                  <a:pt x="3630502" y="3630502"/>
                </a:lnTo>
                <a:lnTo>
                  <a:pt x="0" y="3630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12420600" y="5372100"/>
            <a:ext cx="2837586" cy="3024558"/>
          </a:xfrm>
          <a:custGeom>
            <a:avLst/>
            <a:gdLst/>
            <a:ahLst/>
            <a:cxnLst/>
            <a:rect l="l" t="t" r="r" b="b"/>
            <a:pathLst>
              <a:path w="2837586" h="3024558" extrusionOk="0">
                <a:moveTo>
                  <a:pt x="0" y="0"/>
                </a:moveTo>
                <a:lnTo>
                  <a:pt x="2837585" y="0"/>
                </a:lnTo>
                <a:lnTo>
                  <a:pt x="2837585" y="3024558"/>
                </a:lnTo>
                <a:lnTo>
                  <a:pt x="0" y="3024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8207453" y="495300"/>
            <a:ext cx="1873093" cy="1386089"/>
          </a:xfrm>
          <a:custGeom>
            <a:avLst/>
            <a:gdLst/>
            <a:ahLst/>
            <a:cxnLst/>
            <a:rect l="l" t="t" r="r" b="b"/>
            <a:pathLst>
              <a:path w="1873093" h="1386089" extrusionOk="0">
                <a:moveTo>
                  <a:pt x="0" y="0"/>
                </a:moveTo>
                <a:lnTo>
                  <a:pt x="1873094" y="0"/>
                </a:lnTo>
                <a:lnTo>
                  <a:pt x="1873094" y="1386089"/>
                </a:lnTo>
                <a:lnTo>
                  <a:pt x="0" y="1386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364267" y="495300"/>
            <a:ext cx="2287222" cy="2287222"/>
          </a:xfrm>
          <a:custGeom>
            <a:avLst/>
            <a:gdLst/>
            <a:ahLst/>
            <a:cxnLst/>
            <a:rect l="l" t="t" r="r" b="b"/>
            <a:pathLst>
              <a:path w="2287222" h="2287222" extrusionOk="0">
                <a:moveTo>
                  <a:pt x="0" y="0"/>
                </a:moveTo>
                <a:lnTo>
                  <a:pt x="2287222" y="0"/>
                </a:lnTo>
                <a:lnTo>
                  <a:pt x="2287222" y="2287222"/>
                </a:lnTo>
                <a:lnTo>
                  <a:pt x="0" y="2287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7999"/>
            </a:blip>
            <a:stretch>
              <a:fillRect/>
            </a:stretch>
          </a:blipFill>
          <a:ln>
            <a:noFill/>
          </a:ln>
        </p:spPr>
      </p:sp>
      <p:sp>
        <p:nvSpPr>
          <p:cNvPr id="91" name="Google Shape;91;p1"/>
          <p:cNvSpPr txBox="1"/>
          <p:nvPr/>
        </p:nvSpPr>
        <p:spPr>
          <a:xfrm>
            <a:off x="1644600" y="2252607"/>
            <a:ext cx="149988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Parameter-Efficient RFMiD Retinal Disease Classification: A Calibrated Depthwise-Separable CNN Framework</a:t>
            </a:r>
            <a:endParaRPr sz="54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25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754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5741250" y="5868502"/>
            <a:ext cx="6805500" cy="38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88" b="0" i="0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/>
          </a:p>
          <a:p>
            <a:pPr marL="0" marR="0" lvl="0" indent="0" algn="ctr" rtl="0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16 </a:t>
            </a:r>
            <a:endParaRPr sz="2988" b="0" i="0" u="none" strike="noStrike" cap="none">
              <a:solidFill>
                <a:srgbClr val="0B2F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88" b="0" i="0" u="none" strike="noStrike" cap="none">
              <a:solidFill>
                <a:srgbClr val="0B2F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988" b="1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Mithila Arman</a:t>
            </a:r>
            <a:br>
              <a:rPr lang="en-US" sz="2988" b="1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988" b="1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23266024</a:t>
            </a:r>
            <a:br>
              <a:rPr lang="en-US" sz="2988" b="1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988" b="1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Sumaya Rahman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88" b="1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23273006</a:t>
            </a:r>
            <a:endParaRPr sz="2988" b="1" i="0" u="none" strike="noStrike" cap="none">
              <a:solidFill>
                <a:srgbClr val="0B2F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88" b="0" i="0" u="none" strike="noStrike" cap="none">
              <a:solidFill>
                <a:srgbClr val="0B2F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1028700" y="9258300"/>
            <a:ext cx="2343200" cy="166258"/>
          </a:xfrm>
          <a:custGeom>
            <a:avLst/>
            <a:gdLst/>
            <a:ahLst/>
            <a:cxnLst/>
            <a:rect l="l" t="t" r="r" b="b"/>
            <a:pathLst>
              <a:path w="2343200" h="166258" extrusionOk="0">
                <a:moveTo>
                  <a:pt x="0" y="0"/>
                </a:moveTo>
                <a:lnTo>
                  <a:pt x="2343200" y="0"/>
                </a:lnTo>
                <a:lnTo>
                  <a:pt x="2343200" y="166258"/>
                </a:lnTo>
                <a:lnTo>
                  <a:pt x="0" y="166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8" name="Google Shape;98;p2"/>
          <p:cNvSpPr/>
          <p:nvPr/>
        </p:nvSpPr>
        <p:spPr>
          <a:xfrm>
            <a:off x="15358722" y="663529"/>
            <a:ext cx="1900578" cy="824779"/>
          </a:xfrm>
          <a:custGeom>
            <a:avLst/>
            <a:gdLst/>
            <a:ahLst/>
            <a:cxnLst/>
            <a:rect l="l" t="t" r="r" b="b"/>
            <a:pathLst>
              <a:path w="1900578" h="824779" extrusionOk="0">
                <a:moveTo>
                  <a:pt x="0" y="0"/>
                </a:moveTo>
                <a:lnTo>
                  <a:pt x="1900578" y="0"/>
                </a:lnTo>
                <a:lnTo>
                  <a:pt x="1900578" y="824778"/>
                </a:lnTo>
                <a:lnTo>
                  <a:pt x="0" y="824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-938605" y="-1151722"/>
            <a:ext cx="3630502" cy="3630502"/>
          </a:xfrm>
          <a:custGeom>
            <a:avLst/>
            <a:gdLst/>
            <a:ahLst/>
            <a:cxnLst/>
            <a:rect l="l" t="t" r="r" b="b"/>
            <a:pathLst>
              <a:path w="3630502" h="3630502" extrusionOk="0">
                <a:moveTo>
                  <a:pt x="0" y="0"/>
                </a:moveTo>
                <a:lnTo>
                  <a:pt x="3630501" y="0"/>
                </a:lnTo>
                <a:lnTo>
                  <a:pt x="3630501" y="3630502"/>
                </a:lnTo>
                <a:lnTo>
                  <a:pt x="0" y="3630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-266965" y="-480082"/>
            <a:ext cx="2287222" cy="2287222"/>
          </a:xfrm>
          <a:custGeom>
            <a:avLst/>
            <a:gdLst/>
            <a:ahLst/>
            <a:cxnLst/>
            <a:rect l="l" t="t" r="r" b="b"/>
            <a:pathLst>
              <a:path w="2287222" h="2287222" extrusionOk="0">
                <a:moveTo>
                  <a:pt x="0" y="0"/>
                </a:moveTo>
                <a:lnTo>
                  <a:pt x="2287222" y="0"/>
                </a:lnTo>
                <a:lnTo>
                  <a:pt x="2287222" y="2287222"/>
                </a:lnTo>
                <a:lnTo>
                  <a:pt x="0" y="2287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999"/>
            </a:blip>
            <a:stretch>
              <a:fillRect/>
            </a:stretch>
          </a:blipFill>
          <a:ln>
            <a:noFill/>
          </a:ln>
        </p:spPr>
      </p:sp>
      <p:sp>
        <p:nvSpPr>
          <p:cNvPr id="101" name="Google Shape;101;p2"/>
          <p:cNvSpPr txBox="1"/>
          <p:nvPr/>
        </p:nvSpPr>
        <p:spPr>
          <a:xfrm>
            <a:off x="6295975" y="932659"/>
            <a:ext cx="56961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827800" y="2522920"/>
            <a:ext cx="16314000" cy="59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44500" algn="just" rtl="0">
              <a:lnSpc>
                <a:spcPct val="114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Retinal fundus imaging is widely used to screen multiple vision-threatening diseases, and these conditions can co-exist in one eye, so the task is naturally </a:t>
            </a:r>
            <a:r>
              <a:rPr lang="en-US" sz="3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multi-label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44500" algn="just" rtl="0">
              <a:lnSpc>
                <a:spcPct val="114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deployment is hard because models often learn </a:t>
            </a:r>
            <a:r>
              <a:rPr lang="en-US" sz="3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domain-specific cues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(camera/site/illumination), causing performance drops on unseen datasets.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44500" algn="just" rtl="0">
              <a:lnSpc>
                <a:spcPct val="114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paper frames the problem as </a:t>
            </a:r>
            <a:r>
              <a:rPr lang="en-US" sz="3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8-label multi-label classification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N, D, G, C, A, H, M, O.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44500" algn="just" rtl="0">
              <a:lnSpc>
                <a:spcPct val="114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Char char="●"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evaluates robustness using a </a:t>
            </a:r>
            <a:r>
              <a:rPr lang="en-US" sz="3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generalization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setup: train on ODIR + RFMiD v2, test on held-out RFMiD v1.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44500" algn="just" rtl="0">
              <a:lnSpc>
                <a:spcPct val="114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●"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proposes an end-to-end pipeline combining label harmonization, an efficient CNN, robustness training (Mixup/CutMix), imbalance-aware loss, and EMA evaluation.</a:t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5358722" y="9248346"/>
            <a:ext cx="1900578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01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17373600" y="4610100"/>
            <a:ext cx="2837586" cy="3024558"/>
          </a:xfrm>
          <a:custGeom>
            <a:avLst/>
            <a:gdLst/>
            <a:ahLst/>
            <a:cxnLst/>
            <a:rect l="l" t="t" r="r" b="b"/>
            <a:pathLst>
              <a:path w="2837586" h="3024558" extrusionOk="0">
                <a:moveTo>
                  <a:pt x="0" y="0"/>
                </a:moveTo>
                <a:lnTo>
                  <a:pt x="2837586" y="0"/>
                </a:lnTo>
                <a:lnTo>
                  <a:pt x="2837586" y="3024558"/>
                </a:lnTo>
                <a:lnTo>
                  <a:pt x="0" y="3024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"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762000" y="9695964"/>
            <a:ext cx="2343200" cy="166258"/>
          </a:xfrm>
          <a:custGeom>
            <a:avLst/>
            <a:gdLst/>
            <a:ahLst/>
            <a:cxnLst/>
            <a:rect l="l" t="t" r="r" b="b"/>
            <a:pathLst>
              <a:path w="2343200" h="166258" extrusionOk="0">
                <a:moveTo>
                  <a:pt x="0" y="0"/>
                </a:moveTo>
                <a:lnTo>
                  <a:pt x="2343200" y="0"/>
                </a:lnTo>
                <a:lnTo>
                  <a:pt x="2343200" y="166258"/>
                </a:lnTo>
                <a:lnTo>
                  <a:pt x="0" y="166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15358722" y="663529"/>
            <a:ext cx="1900578" cy="824779"/>
          </a:xfrm>
          <a:custGeom>
            <a:avLst/>
            <a:gdLst/>
            <a:ahLst/>
            <a:cxnLst/>
            <a:rect l="l" t="t" r="r" b="b"/>
            <a:pathLst>
              <a:path w="1900578" h="824779" extrusionOk="0">
                <a:moveTo>
                  <a:pt x="0" y="0"/>
                </a:moveTo>
                <a:lnTo>
                  <a:pt x="1900578" y="0"/>
                </a:lnTo>
                <a:lnTo>
                  <a:pt x="1900578" y="824778"/>
                </a:lnTo>
                <a:lnTo>
                  <a:pt x="0" y="824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1" name="Google Shape;111;p3"/>
          <p:cNvSpPr txBox="1"/>
          <p:nvPr/>
        </p:nvSpPr>
        <p:spPr>
          <a:xfrm>
            <a:off x="1807500" y="1099229"/>
            <a:ext cx="94284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Contribution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15625422" y="9692592"/>
            <a:ext cx="1900578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02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1807500" y="2783525"/>
            <a:ext cx="14673000" cy="61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50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Proposes a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cross-dataset evaluation pipeline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(ODIR + RFMiD v2 → RFMiD v1) to test robustness under distribution shift.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0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Introduces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RetinaEffCNN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 compact depthwise-separable / inverted-residual CNN for 8-label retinal classification.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0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architectural robustness features: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squeeze-and-excitation attention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stochastic depth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0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training strategies for robustness and imbalance: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inter-domain Mixup/CutMix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Asymmetric Loss + class weights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light label smoothing, and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0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Applies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per-class threshold tuning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validation, then keeps thresholds fixed when testing on the unseen domain. 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1028700" y="9258300"/>
            <a:ext cx="2343200" cy="166258"/>
          </a:xfrm>
          <a:custGeom>
            <a:avLst/>
            <a:gdLst/>
            <a:ahLst/>
            <a:cxnLst/>
            <a:rect l="l" t="t" r="r" b="b"/>
            <a:pathLst>
              <a:path w="2343200" h="166258" extrusionOk="0">
                <a:moveTo>
                  <a:pt x="0" y="0"/>
                </a:moveTo>
                <a:lnTo>
                  <a:pt x="2343200" y="0"/>
                </a:lnTo>
                <a:lnTo>
                  <a:pt x="2343200" y="166258"/>
                </a:lnTo>
                <a:lnTo>
                  <a:pt x="0" y="166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9" name="Google Shape;119;p4"/>
          <p:cNvSpPr/>
          <p:nvPr/>
        </p:nvSpPr>
        <p:spPr>
          <a:xfrm>
            <a:off x="15358722" y="663529"/>
            <a:ext cx="1900578" cy="824779"/>
          </a:xfrm>
          <a:custGeom>
            <a:avLst/>
            <a:gdLst/>
            <a:ahLst/>
            <a:cxnLst/>
            <a:rect l="l" t="t" r="r" b="b"/>
            <a:pathLst>
              <a:path w="1900578" h="824779" extrusionOk="0">
                <a:moveTo>
                  <a:pt x="0" y="0"/>
                </a:moveTo>
                <a:lnTo>
                  <a:pt x="1900578" y="0"/>
                </a:lnTo>
                <a:lnTo>
                  <a:pt x="1900578" y="824778"/>
                </a:lnTo>
                <a:lnTo>
                  <a:pt x="0" y="824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0" name="Google Shape;120;p4"/>
          <p:cNvSpPr txBox="1"/>
          <p:nvPr/>
        </p:nvSpPr>
        <p:spPr>
          <a:xfrm>
            <a:off x="1828800" y="663529"/>
            <a:ext cx="94284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Study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15358722" y="9248346"/>
            <a:ext cx="1900578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03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746838" y="2434488"/>
            <a:ext cx="16706100" cy="61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50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fundus screening is challenging due to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multi-label disease co-occurrence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distribution shift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cameras/sites/annotations.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0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 domain generalization protocol: train on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ODIR + RFMiD v2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test only on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RFMiD v1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(unseen target).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0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an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8-label taxonomy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(N, D, G, C, A, H, M, O) with sigmoid outputs from 8 logits.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0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Performs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 harmonization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datasets (map core diseases; aggregate unmapped positives into “Other”; remove missing/duplicate noise).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0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“fast” preprocessing/augmentation and handles imbalance with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ASL + weights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stabilized by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AdamW + warmup/cosine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</a:t>
            </a: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evaluates using mAUC/mAP/Macro-F1 with tuned thresholds.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657200" y="9623471"/>
            <a:ext cx="2343200" cy="166258"/>
          </a:xfrm>
          <a:custGeom>
            <a:avLst/>
            <a:gdLst/>
            <a:ahLst/>
            <a:cxnLst/>
            <a:rect l="l" t="t" r="r" b="b"/>
            <a:pathLst>
              <a:path w="2343200" h="166258" extrusionOk="0">
                <a:moveTo>
                  <a:pt x="0" y="0"/>
                </a:moveTo>
                <a:lnTo>
                  <a:pt x="2343200" y="0"/>
                </a:lnTo>
                <a:lnTo>
                  <a:pt x="2343200" y="166258"/>
                </a:lnTo>
                <a:lnTo>
                  <a:pt x="0" y="166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8" name="Google Shape;128;p5"/>
          <p:cNvSpPr/>
          <p:nvPr/>
        </p:nvSpPr>
        <p:spPr>
          <a:xfrm>
            <a:off x="16387422" y="4"/>
            <a:ext cx="1900578" cy="824779"/>
          </a:xfrm>
          <a:custGeom>
            <a:avLst/>
            <a:gdLst/>
            <a:ahLst/>
            <a:cxnLst/>
            <a:rect l="l" t="t" r="r" b="b"/>
            <a:pathLst>
              <a:path w="1900578" h="824779" extrusionOk="0">
                <a:moveTo>
                  <a:pt x="0" y="0"/>
                </a:moveTo>
                <a:lnTo>
                  <a:pt x="1900578" y="0"/>
                </a:lnTo>
                <a:lnTo>
                  <a:pt x="1900578" y="824778"/>
                </a:lnTo>
                <a:lnTo>
                  <a:pt x="0" y="824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9" name="Google Shape;129;p5"/>
          <p:cNvSpPr txBox="1"/>
          <p:nvPr/>
        </p:nvSpPr>
        <p:spPr>
          <a:xfrm>
            <a:off x="1828800" y="663529"/>
            <a:ext cx="94284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15358722" y="9541500"/>
            <a:ext cx="1900578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 dirty="0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04</a:t>
            </a:r>
            <a:endParaRPr dirty="0"/>
          </a:p>
        </p:txBody>
      </p:sp>
      <p:sp>
        <p:nvSpPr>
          <p:cNvPr id="131" name="Google Shape;131;p5"/>
          <p:cNvSpPr txBox="1"/>
          <p:nvPr/>
        </p:nvSpPr>
        <p:spPr>
          <a:xfrm>
            <a:off x="947650" y="2268900"/>
            <a:ext cx="16311600" cy="6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Earlier systems mainly use </a:t>
            </a:r>
            <a:r>
              <a:rPr lang="en-US" sz="3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 transfer learning backbones</a:t>
            </a:r>
            <a:r>
              <a:rPr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(ResNet, DenseNet, EfficientNet, MobileNet); newer ones also explore </a:t>
            </a:r>
            <a:r>
              <a:rPr lang="en-US" sz="3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transformers</a:t>
            </a:r>
            <a:r>
              <a:rPr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(ViT, Swin, ConvNeXt-style).</a:t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paper benchmarks many standard backbones (Swin-T, ConvNeXt-Tiny, MobileNetV3, EfficientNet variants, ViT-B/16, ResNet-50/101, DenseNet-121, RegNet) against RetinaEffCNN.</a:t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Recent multi-label fundus work emphasizes stronger heads/fusion (</a:t>
            </a:r>
            <a:r>
              <a:rPr lang="en-US" sz="3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paired-eye feature integration</a:t>
            </a:r>
            <a:r>
              <a:rPr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EfficientNet + MLDecoder) and broader multi-disease screening pipelines.</a:t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shift is a major theme: performance drops across camera/site changes motivate </a:t>
            </a:r>
            <a:r>
              <a:rPr lang="en-US" sz="3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generalization</a:t>
            </a:r>
            <a:r>
              <a:rPr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test-time adaptation</a:t>
            </a:r>
            <a:r>
              <a:rPr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approaches.</a:t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38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multi-label imbalance, </a:t>
            </a:r>
            <a:r>
              <a:rPr lang="en-US" sz="3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Asymmetric Loss</a:t>
            </a:r>
            <a:r>
              <a:rPr lang="en-US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commonly used because it reduces the effect of easy negatives while keeping learning on rare positives</a:t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 descr="Circle Shape Outline"/>
          <p:cNvSpPr/>
          <p:nvPr/>
        </p:nvSpPr>
        <p:spPr>
          <a:xfrm>
            <a:off x="14493760" y="-1037421"/>
            <a:ext cx="3630502" cy="3630502"/>
          </a:xfrm>
          <a:custGeom>
            <a:avLst/>
            <a:gdLst/>
            <a:ahLst/>
            <a:cxnLst/>
            <a:rect l="l" t="t" r="r" b="b"/>
            <a:pathLst>
              <a:path w="3630502" h="3630502" extrusionOk="0">
                <a:moveTo>
                  <a:pt x="0" y="0"/>
                </a:moveTo>
                <a:lnTo>
                  <a:pt x="3630502" y="0"/>
                </a:lnTo>
                <a:lnTo>
                  <a:pt x="3630502" y="3630502"/>
                </a:lnTo>
                <a:lnTo>
                  <a:pt x="0" y="3630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137" name="Google Shape;137;p6" descr="Bold Colorful Memphis Dotted Circle"/>
          <p:cNvSpPr/>
          <p:nvPr/>
        </p:nvSpPr>
        <p:spPr>
          <a:xfrm>
            <a:off x="15165400" y="-226804"/>
            <a:ext cx="2287222" cy="2287222"/>
          </a:xfrm>
          <a:custGeom>
            <a:avLst/>
            <a:gdLst/>
            <a:ahLst/>
            <a:cxnLst/>
            <a:rect l="l" t="t" r="r" b="b"/>
            <a:pathLst>
              <a:path w="2287222" h="2287222" extrusionOk="0">
                <a:moveTo>
                  <a:pt x="0" y="0"/>
                </a:moveTo>
                <a:lnTo>
                  <a:pt x="2287222" y="0"/>
                </a:lnTo>
                <a:lnTo>
                  <a:pt x="2287222" y="2287223"/>
                </a:lnTo>
                <a:lnTo>
                  <a:pt x="0" y="22872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999"/>
            </a:blip>
            <a:stretch>
              <a:fillRect/>
            </a:stretch>
          </a:blipFill>
          <a:ln>
            <a:noFill/>
          </a:ln>
        </p:spPr>
      </p:sp>
      <p:sp>
        <p:nvSpPr>
          <p:cNvPr id="141" name="Google Shape;141;p6"/>
          <p:cNvSpPr/>
          <p:nvPr/>
        </p:nvSpPr>
        <p:spPr>
          <a:xfrm>
            <a:off x="0" y="1161562"/>
            <a:ext cx="9535255" cy="7963882"/>
          </a:xfrm>
          <a:custGeom>
            <a:avLst/>
            <a:gdLst/>
            <a:ahLst/>
            <a:cxnLst/>
            <a:rect l="l" t="t" r="r" b="b"/>
            <a:pathLst>
              <a:path w="9932557" h="8898192" extrusionOk="0">
                <a:moveTo>
                  <a:pt x="0" y="0"/>
                </a:moveTo>
                <a:lnTo>
                  <a:pt x="9932556" y="0"/>
                </a:lnTo>
                <a:lnTo>
                  <a:pt x="9932556" y="8898191"/>
                </a:lnTo>
                <a:lnTo>
                  <a:pt x="0" y="8898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2" name="Google Shape;142;p6"/>
          <p:cNvGrpSpPr/>
          <p:nvPr/>
        </p:nvGrpSpPr>
        <p:grpSpPr>
          <a:xfrm>
            <a:off x="10764300" y="148633"/>
            <a:ext cx="6183518" cy="3360355"/>
            <a:chOff x="39031" y="-4021868"/>
            <a:chExt cx="8639819" cy="5641967"/>
          </a:xfrm>
        </p:grpSpPr>
        <p:sp>
          <p:nvSpPr>
            <p:cNvPr id="143" name="Google Shape;143;p6"/>
            <p:cNvSpPr txBox="1"/>
            <p:nvPr/>
          </p:nvSpPr>
          <p:spPr>
            <a:xfrm>
              <a:off x="39031" y="-4021868"/>
              <a:ext cx="8624100" cy="408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894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Dataset Overview</a:t>
              </a:r>
              <a:endParaRPr sz="1000"/>
            </a:p>
          </p:txBody>
        </p:sp>
        <p:sp>
          <p:nvSpPr>
            <p:cNvPr id="144" name="Google Shape;144;p6"/>
            <p:cNvSpPr txBox="1"/>
            <p:nvPr/>
          </p:nvSpPr>
          <p:spPr>
            <a:xfrm>
              <a:off x="54750" y="82298"/>
              <a:ext cx="8624100" cy="153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50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Retinal Disease Classification</a:t>
              </a:r>
              <a:endParaRPr sz="1800"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3200 images for 46 different diseases</a:t>
              </a:r>
              <a:endParaRPr/>
            </a:p>
          </p:txBody>
        </p:sp>
      </p:grpSp>
      <p:sp>
        <p:nvSpPr>
          <p:cNvPr id="146" name="Google Shape;146;p6"/>
          <p:cNvSpPr txBox="1"/>
          <p:nvPr/>
        </p:nvSpPr>
        <p:spPr>
          <a:xfrm>
            <a:off x="9535250" y="3850525"/>
            <a:ext cx="84297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 cross-dataset domain generalization setup: 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on ODIR + RFMiD v2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only on RFMiD v1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(held-out target domain).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Follows the 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official dataset partitions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ODIR &amp; RFMiD v2 provide train/val splits; RFMiD v1 is reserved for testing.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an 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8-label multi-label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task: Normal (N), DR (D), Glaucoma (G), Cataract/MH proxy (C), AMD (A), HTN/HR proxy (H), Myopia (M), Other (O).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Applies 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 harmonization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datasets (e.g., DR→D, ODC→G, MH→C, ARMD→A, MYA→M, HTN/HR→H; unmapped positives → Other).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harmonization, assigns ODIR labels to 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left/right eyes when present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cleans IDs by handling extensions, removing duplicates, and dropping missing files.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 descr="Circle Shape Outline"/>
          <p:cNvSpPr/>
          <p:nvPr/>
        </p:nvSpPr>
        <p:spPr>
          <a:xfrm>
            <a:off x="16309011" y="-1730293"/>
            <a:ext cx="3630502" cy="3630502"/>
          </a:xfrm>
          <a:custGeom>
            <a:avLst/>
            <a:gdLst/>
            <a:ahLst/>
            <a:cxnLst/>
            <a:rect l="l" t="t" r="r" b="b"/>
            <a:pathLst>
              <a:path w="3630502" h="3630502" extrusionOk="0">
                <a:moveTo>
                  <a:pt x="0" y="0"/>
                </a:moveTo>
                <a:lnTo>
                  <a:pt x="3630502" y="0"/>
                </a:lnTo>
                <a:lnTo>
                  <a:pt x="3630502" y="3630502"/>
                </a:lnTo>
                <a:lnTo>
                  <a:pt x="0" y="3630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152" name="Google Shape;152;p7" descr="Bold Colorful Memphis Dotted Circle"/>
          <p:cNvSpPr/>
          <p:nvPr/>
        </p:nvSpPr>
        <p:spPr>
          <a:xfrm>
            <a:off x="16980651" y="-919675"/>
            <a:ext cx="2287222" cy="2287222"/>
          </a:xfrm>
          <a:custGeom>
            <a:avLst/>
            <a:gdLst/>
            <a:ahLst/>
            <a:cxnLst/>
            <a:rect l="l" t="t" r="r" b="b"/>
            <a:pathLst>
              <a:path w="2287222" h="2287222" extrusionOk="0">
                <a:moveTo>
                  <a:pt x="0" y="0"/>
                </a:moveTo>
                <a:lnTo>
                  <a:pt x="2287222" y="0"/>
                </a:lnTo>
                <a:lnTo>
                  <a:pt x="2287222" y="2287222"/>
                </a:lnTo>
                <a:lnTo>
                  <a:pt x="0" y="2287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999"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3" name="Google Shape;153;p7"/>
          <p:cNvGrpSpPr/>
          <p:nvPr/>
        </p:nvGrpSpPr>
        <p:grpSpPr>
          <a:xfrm>
            <a:off x="9677001" y="1290984"/>
            <a:ext cx="9220275" cy="9112252"/>
            <a:chOff x="0" y="-47625"/>
            <a:chExt cx="12293700" cy="12149671"/>
          </a:xfrm>
        </p:grpSpPr>
        <p:sp>
          <p:nvSpPr>
            <p:cNvPr id="154" name="Google Shape;154;p7"/>
            <p:cNvSpPr txBox="1"/>
            <p:nvPr/>
          </p:nvSpPr>
          <p:spPr>
            <a:xfrm>
              <a:off x="0" y="939946"/>
              <a:ext cx="12293700" cy="111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Exudation (EDN)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Retinal pigment epithelium changes (RPEC)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Macular hole (MHL)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Retinitis pigmentosa (RP)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Cotton-wool spots (CWS)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Coloboma (CB)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Optic disc pit maculopathy (ODPM)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Preretinal hemorrhage (PRH)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Myelinated nerve fibers (MNF)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Hemorrhagic retinopathy (HR)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Central retinal artery occlusion (CRAO)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Tilted disc (TD)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Cystoid macular edema (CME)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Post-traumatic choroidal rupture (PTCR)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Choroidal folds (CF)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Vitreous hemorrhage (VH)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Macroaneurysm (MCA)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Vasculitis (VS)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Branch retinal artery occlusion (BRAO)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Plaque (PLQ)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Hemorrhagic pigment epithelial detachment (HPED)</a:t>
              </a:r>
              <a:endParaRPr/>
            </a:p>
            <a:p>
              <a:pPr marL="448246" marR="0" lvl="1" indent="-224123" algn="l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2F3D"/>
                </a:buClr>
                <a:buSzPts val="2076"/>
                <a:buFont typeface="Arial"/>
                <a:buChar char="•"/>
              </a:pPr>
              <a:r>
                <a:rPr lang="en-US" sz="2076" b="0" i="0" u="none" strike="noStrike" cap="none">
                  <a:solidFill>
                    <a:srgbClr val="0B2F3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Collateral (CL)</a:t>
              </a:r>
              <a:endParaRPr/>
            </a:p>
          </p:txBody>
        </p:sp>
        <p:sp>
          <p:nvSpPr>
            <p:cNvPr id="155" name="Google Shape;155;p7"/>
            <p:cNvSpPr txBox="1"/>
            <p:nvPr/>
          </p:nvSpPr>
          <p:spPr>
            <a:xfrm>
              <a:off x="0" y="-47625"/>
              <a:ext cx="12293600" cy="572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213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6" name="Google Shape;156;p7"/>
          <p:cNvSpPr txBox="1"/>
          <p:nvPr/>
        </p:nvSpPr>
        <p:spPr>
          <a:xfrm>
            <a:off x="1033350" y="126367"/>
            <a:ext cx="98727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/>
          </a:p>
        </p:txBody>
      </p:sp>
      <p:cxnSp>
        <p:nvCxnSpPr>
          <p:cNvPr id="157" name="Google Shape;157;p7"/>
          <p:cNvCxnSpPr/>
          <p:nvPr/>
        </p:nvCxnSpPr>
        <p:spPr>
          <a:xfrm rot="10800000">
            <a:off x="9134475" y="2593081"/>
            <a:ext cx="0" cy="10395005"/>
          </a:xfrm>
          <a:prstGeom prst="straightConnector1">
            <a:avLst/>
          </a:prstGeom>
          <a:noFill/>
          <a:ln w="19050" cap="flat" cmpd="sng">
            <a:solidFill>
              <a:srgbClr val="24455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7"/>
          <p:cNvSpPr txBox="1"/>
          <p:nvPr/>
        </p:nvSpPr>
        <p:spPr>
          <a:xfrm>
            <a:off x="1227076" y="1874063"/>
            <a:ext cx="6957600" cy="86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Diabetic retinopathy (DR)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Age-related macular degeneration (ARMD)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 Haze (MH)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Drusens (DN)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Myopia (MYA)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 retinal vein occlusion (BRVO)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Tessellation (TSLN)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Epiretinal membrane (ERM)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Laser scars (LS)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Macular scar (MS)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 serous retinopathy (CSR)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Optic disc cupping (ODC)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 retinal vein occlusion (CRVO)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Tortuous vessels (TV)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Asteroid hyalosis (AH)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Optic disc pallor (ODP)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Optic disc edema (ODE)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Shunt (ST)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Anterior ischemic optic neuropathy (AION)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Parafoveal telangiectasia (PT)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Retinal traction (RT)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Retinitis (RS)</a:t>
            </a:r>
            <a:endParaRPr/>
          </a:p>
          <a:p>
            <a:pPr marL="505684" marR="0" lvl="1" indent="-25284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3D"/>
              </a:buClr>
              <a:buSzPts val="2342"/>
              <a:buFont typeface="Arial"/>
              <a:buChar char="•"/>
            </a:pPr>
            <a:r>
              <a:rPr lang="en-US" sz="2342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Chorioretinitis (CRS)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42" b="0" i="0" u="none" strike="noStrike" cap="none">
              <a:solidFill>
                <a:srgbClr val="0B2F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949049" y="1206180"/>
            <a:ext cx="5347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3200 images for 46 different diseases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9"/>
          <p:cNvCxnSpPr/>
          <p:nvPr/>
        </p:nvCxnSpPr>
        <p:spPr>
          <a:xfrm>
            <a:off x="565876" y="1246296"/>
            <a:ext cx="5122800" cy="0"/>
          </a:xfrm>
          <a:prstGeom prst="straightConnector1">
            <a:avLst/>
          </a:prstGeom>
          <a:noFill/>
          <a:ln w="38100" cap="flat" cmpd="sng">
            <a:solidFill>
              <a:srgbClr val="0B2F3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9"/>
          <p:cNvSpPr txBox="1"/>
          <p:nvPr/>
        </p:nvSpPr>
        <p:spPr>
          <a:xfrm>
            <a:off x="611784" y="63114"/>
            <a:ext cx="14399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</p:txBody>
      </p:sp>
      <p:pic>
        <p:nvPicPr>
          <p:cNvPr id="167" name="Google Shape;167;p9" title="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487" y="1630006"/>
            <a:ext cx="15290355" cy="856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-1696336" y="-1778810"/>
            <a:ext cx="3630502" cy="3630502"/>
          </a:xfrm>
          <a:custGeom>
            <a:avLst/>
            <a:gdLst/>
            <a:ahLst/>
            <a:cxnLst/>
            <a:rect l="l" t="t" r="r" b="b"/>
            <a:pathLst>
              <a:path w="3630502" h="3630502" extrusionOk="0">
                <a:moveTo>
                  <a:pt x="0" y="0"/>
                </a:moveTo>
                <a:lnTo>
                  <a:pt x="3630502" y="0"/>
                </a:lnTo>
                <a:lnTo>
                  <a:pt x="3630502" y="3630502"/>
                </a:lnTo>
                <a:lnTo>
                  <a:pt x="0" y="3630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174" name="Google Shape;174;p10"/>
          <p:cNvSpPr/>
          <p:nvPr/>
        </p:nvSpPr>
        <p:spPr>
          <a:xfrm>
            <a:off x="118915" y="-67693"/>
            <a:ext cx="2287222" cy="2287222"/>
          </a:xfrm>
          <a:custGeom>
            <a:avLst/>
            <a:gdLst/>
            <a:ahLst/>
            <a:cxnLst/>
            <a:rect l="l" t="t" r="r" b="b"/>
            <a:pathLst>
              <a:path w="2287222" h="2287222" extrusionOk="0">
                <a:moveTo>
                  <a:pt x="0" y="0"/>
                </a:moveTo>
                <a:lnTo>
                  <a:pt x="2287222" y="0"/>
                </a:lnTo>
                <a:lnTo>
                  <a:pt x="2287222" y="2287222"/>
                </a:lnTo>
                <a:lnTo>
                  <a:pt x="0" y="2287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999"/>
            </a:blip>
            <a:stretch>
              <a:fillRect/>
            </a:stretch>
          </a:blipFill>
          <a:ln>
            <a:noFill/>
          </a:ln>
        </p:spPr>
      </p:sp>
      <p:pic>
        <p:nvPicPr>
          <p:cNvPr id="175" name="Google Shape;175;p10" title="exp tab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5150" y="1631400"/>
            <a:ext cx="13245374" cy="86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 txBox="1"/>
          <p:nvPr/>
        </p:nvSpPr>
        <p:spPr>
          <a:xfrm>
            <a:off x="2098050" y="0"/>
            <a:ext cx="140919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abf12a0b4_0_19"/>
          <p:cNvSpPr/>
          <p:nvPr/>
        </p:nvSpPr>
        <p:spPr>
          <a:xfrm>
            <a:off x="-1696336" y="-1778810"/>
            <a:ext cx="3630502" cy="3630502"/>
          </a:xfrm>
          <a:custGeom>
            <a:avLst/>
            <a:gdLst/>
            <a:ahLst/>
            <a:cxnLst/>
            <a:rect l="l" t="t" r="r" b="b"/>
            <a:pathLst>
              <a:path w="3630502" h="3630502" extrusionOk="0">
                <a:moveTo>
                  <a:pt x="0" y="0"/>
                </a:moveTo>
                <a:lnTo>
                  <a:pt x="3630502" y="0"/>
                </a:lnTo>
                <a:lnTo>
                  <a:pt x="3630502" y="3630502"/>
                </a:lnTo>
                <a:lnTo>
                  <a:pt x="0" y="3630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182" name="Google Shape;182;g3babf12a0b4_0_19"/>
          <p:cNvSpPr txBox="1"/>
          <p:nvPr/>
        </p:nvSpPr>
        <p:spPr>
          <a:xfrm>
            <a:off x="4122568" y="406889"/>
            <a:ext cx="10042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</p:txBody>
      </p:sp>
      <p:pic>
        <p:nvPicPr>
          <p:cNvPr id="183" name="Google Shape;183;g3babf12a0b4_0_19" title="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7699" y="2197739"/>
            <a:ext cx="15912613" cy="742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abf12a0b4_0_85"/>
          <p:cNvSpPr/>
          <p:nvPr/>
        </p:nvSpPr>
        <p:spPr>
          <a:xfrm>
            <a:off x="-1696336" y="-1778810"/>
            <a:ext cx="3630502" cy="3630502"/>
          </a:xfrm>
          <a:custGeom>
            <a:avLst/>
            <a:gdLst/>
            <a:ahLst/>
            <a:cxnLst/>
            <a:rect l="l" t="t" r="r" b="b"/>
            <a:pathLst>
              <a:path w="3630502" h="3630502" extrusionOk="0">
                <a:moveTo>
                  <a:pt x="0" y="0"/>
                </a:moveTo>
                <a:lnTo>
                  <a:pt x="3630502" y="0"/>
                </a:lnTo>
                <a:lnTo>
                  <a:pt x="3630502" y="3630502"/>
                </a:lnTo>
                <a:lnTo>
                  <a:pt x="0" y="3630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189" name="Google Shape;189;g3babf12a0b4_0_85"/>
          <p:cNvSpPr txBox="1"/>
          <p:nvPr/>
        </p:nvSpPr>
        <p:spPr>
          <a:xfrm>
            <a:off x="4122568" y="406889"/>
            <a:ext cx="10042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</p:txBody>
      </p:sp>
      <p:pic>
        <p:nvPicPr>
          <p:cNvPr id="190" name="Google Shape;190;g3babf12a0b4_0_85" title="per_class_metric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56" y="2149328"/>
            <a:ext cx="18082350" cy="642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abf12a0b4_0_92"/>
          <p:cNvSpPr/>
          <p:nvPr/>
        </p:nvSpPr>
        <p:spPr>
          <a:xfrm>
            <a:off x="-1696336" y="-1778810"/>
            <a:ext cx="3630502" cy="3630502"/>
          </a:xfrm>
          <a:custGeom>
            <a:avLst/>
            <a:gdLst/>
            <a:ahLst/>
            <a:cxnLst/>
            <a:rect l="l" t="t" r="r" b="b"/>
            <a:pathLst>
              <a:path w="3630502" h="3630502" extrusionOk="0">
                <a:moveTo>
                  <a:pt x="0" y="0"/>
                </a:moveTo>
                <a:lnTo>
                  <a:pt x="3630502" y="0"/>
                </a:lnTo>
                <a:lnTo>
                  <a:pt x="3630502" y="3630502"/>
                </a:lnTo>
                <a:lnTo>
                  <a:pt x="0" y="3630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196" name="Google Shape;196;g3babf12a0b4_0_92"/>
          <p:cNvSpPr txBox="1"/>
          <p:nvPr/>
        </p:nvSpPr>
        <p:spPr>
          <a:xfrm>
            <a:off x="4114943" y="334284"/>
            <a:ext cx="10042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</p:txBody>
      </p:sp>
      <p:pic>
        <p:nvPicPr>
          <p:cNvPr id="197" name="Google Shape;197;g3babf12a0b4_0_92" title="per_class_roc_curv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299" y="1616825"/>
            <a:ext cx="17256105" cy="867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abf12a0b4_0_99"/>
          <p:cNvSpPr/>
          <p:nvPr/>
        </p:nvSpPr>
        <p:spPr>
          <a:xfrm>
            <a:off x="-1696336" y="-1778810"/>
            <a:ext cx="3630502" cy="3630502"/>
          </a:xfrm>
          <a:custGeom>
            <a:avLst/>
            <a:gdLst/>
            <a:ahLst/>
            <a:cxnLst/>
            <a:rect l="l" t="t" r="r" b="b"/>
            <a:pathLst>
              <a:path w="3630502" h="3630502" extrusionOk="0">
                <a:moveTo>
                  <a:pt x="0" y="0"/>
                </a:moveTo>
                <a:lnTo>
                  <a:pt x="3630502" y="0"/>
                </a:lnTo>
                <a:lnTo>
                  <a:pt x="3630502" y="3630502"/>
                </a:lnTo>
                <a:lnTo>
                  <a:pt x="0" y="3630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3" name="Google Shape;203;g3babf12a0b4_0_99"/>
          <p:cNvSpPr txBox="1"/>
          <p:nvPr/>
        </p:nvSpPr>
        <p:spPr>
          <a:xfrm>
            <a:off x="4364640" y="276006"/>
            <a:ext cx="10042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/>
          </a:p>
        </p:txBody>
      </p:sp>
      <p:pic>
        <p:nvPicPr>
          <p:cNvPr id="204" name="Google Shape;204;g3babf12a0b4_0_99" title="macro_roc_cur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9791" y="1481032"/>
            <a:ext cx="11468421" cy="8539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/>
          <p:nvPr/>
        </p:nvSpPr>
        <p:spPr>
          <a:xfrm>
            <a:off x="1028700" y="9258300"/>
            <a:ext cx="2343200" cy="166258"/>
          </a:xfrm>
          <a:custGeom>
            <a:avLst/>
            <a:gdLst/>
            <a:ahLst/>
            <a:cxnLst/>
            <a:rect l="l" t="t" r="r" b="b"/>
            <a:pathLst>
              <a:path w="2343200" h="166258" extrusionOk="0">
                <a:moveTo>
                  <a:pt x="0" y="0"/>
                </a:moveTo>
                <a:lnTo>
                  <a:pt x="2343200" y="0"/>
                </a:lnTo>
                <a:lnTo>
                  <a:pt x="2343200" y="166258"/>
                </a:lnTo>
                <a:lnTo>
                  <a:pt x="0" y="166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0" name="Google Shape;210;p11"/>
          <p:cNvSpPr/>
          <p:nvPr/>
        </p:nvSpPr>
        <p:spPr>
          <a:xfrm>
            <a:off x="15358722" y="663529"/>
            <a:ext cx="1900578" cy="824779"/>
          </a:xfrm>
          <a:custGeom>
            <a:avLst/>
            <a:gdLst/>
            <a:ahLst/>
            <a:cxnLst/>
            <a:rect l="l" t="t" r="r" b="b"/>
            <a:pathLst>
              <a:path w="1900578" h="824779" extrusionOk="0">
                <a:moveTo>
                  <a:pt x="0" y="0"/>
                </a:moveTo>
                <a:lnTo>
                  <a:pt x="1900578" y="0"/>
                </a:lnTo>
                <a:lnTo>
                  <a:pt x="1900578" y="824778"/>
                </a:lnTo>
                <a:lnTo>
                  <a:pt x="0" y="824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1" name="Google Shape;211;p11"/>
          <p:cNvSpPr txBox="1"/>
          <p:nvPr/>
        </p:nvSpPr>
        <p:spPr>
          <a:xfrm>
            <a:off x="15358722" y="9248346"/>
            <a:ext cx="1900578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10</a:t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1576638" y="1635508"/>
            <a:ext cx="3630502" cy="3630502"/>
          </a:xfrm>
          <a:custGeom>
            <a:avLst/>
            <a:gdLst/>
            <a:ahLst/>
            <a:cxnLst/>
            <a:rect l="l" t="t" r="r" b="b"/>
            <a:pathLst>
              <a:path w="3630502" h="3630502" extrusionOk="0">
                <a:moveTo>
                  <a:pt x="0" y="0"/>
                </a:moveTo>
                <a:lnTo>
                  <a:pt x="3630501" y="0"/>
                </a:lnTo>
                <a:lnTo>
                  <a:pt x="3630501" y="3630502"/>
                </a:lnTo>
                <a:lnTo>
                  <a:pt x="0" y="3630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13" name="Google Shape;213;p11"/>
          <p:cNvSpPr/>
          <p:nvPr/>
        </p:nvSpPr>
        <p:spPr>
          <a:xfrm>
            <a:off x="876646" y="3403001"/>
            <a:ext cx="2287222" cy="2287222"/>
          </a:xfrm>
          <a:custGeom>
            <a:avLst/>
            <a:gdLst/>
            <a:ahLst/>
            <a:cxnLst/>
            <a:rect l="l" t="t" r="r" b="b"/>
            <a:pathLst>
              <a:path w="2287222" h="2287222" extrusionOk="0">
                <a:moveTo>
                  <a:pt x="0" y="0"/>
                </a:moveTo>
                <a:lnTo>
                  <a:pt x="2287222" y="0"/>
                </a:lnTo>
                <a:lnTo>
                  <a:pt x="2287222" y="2287222"/>
                </a:lnTo>
                <a:lnTo>
                  <a:pt x="0" y="2287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999"/>
            </a:blip>
            <a:stretch>
              <a:fillRect/>
            </a:stretch>
          </a:blipFill>
          <a:ln>
            <a:noFill/>
          </a:ln>
        </p:spPr>
      </p:sp>
      <p:sp>
        <p:nvSpPr>
          <p:cNvPr id="214" name="Google Shape;214;p11"/>
          <p:cNvSpPr/>
          <p:nvPr/>
        </p:nvSpPr>
        <p:spPr>
          <a:xfrm>
            <a:off x="15840507" y="5370500"/>
            <a:ext cx="2837586" cy="3024558"/>
          </a:xfrm>
          <a:custGeom>
            <a:avLst/>
            <a:gdLst/>
            <a:ahLst/>
            <a:cxnLst/>
            <a:rect l="l" t="t" r="r" b="b"/>
            <a:pathLst>
              <a:path w="2837586" h="3024558" extrusionOk="0">
                <a:moveTo>
                  <a:pt x="0" y="0"/>
                </a:moveTo>
                <a:lnTo>
                  <a:pt x="2837586" y="0"/>
                </a:lnTo>
                <a:lnTo>
                  <a:pt x="2837586" y="3024558"/>
                </a:lnTo>
                <a:lnTo>
                  <a:pt x="0" y="3024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15" name="Google Shape;215;p11"/>
          <p:cNvSpPr txBox="1"/>
          <p:nvPr/>
        </p:nvSpPr>
        <p:spPr>
          <a:xfrm>
            <a:off x="5369692" y="380094"/>
            <a:ext cx="7548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grpSp>
        <p:nvGrpSpPr>
          <p:cNvPr id="216" name="Google Shape;216;p11"/>
          <p:cNvGrpSpPr/>
          <p:nvPr/>
        </p:nvGrpSpPr>
        <p:grpSpPr>
          <a:xfrm>
            <a:off x="634175" y="1970275"/>
            <a:ext cx="16967296" cy="8132775"/>
            <a:chOff x="0" y="0"/>
            <a:chExt cx="3920355" cy="971739"/>
          </a:xfrm>
        </p:grpSpPr>
        <p:sp>
          <p:nvSpPr>
            <p:cNvPr id="217" name="Google Shape;217;p11"/>
            <p:cNvSpPr/>
            <p:nvPr/>
          </p:nvSpPr>
          <p:spPr>
            <a:xfrm>
              <a:off x="0" y="0"/>
              <a:ext cx="3920355" cy="971739"/>
            </a:xfrm>
            <a:custGeom>
              <a:avLst/>
              <a:gdLst/>
              <a:ahLst/>
              <a:cxnLst/>
              <a:rect l="l" t="t" r="r" b="b"/>
              <a:pathLst>
                <a:path w="3920355" h="971739" extrusionOk="0">
                  <a:moveTo>
                    <a:pt x="26526" y="0"/>
                  </a:moveTo>
                  <a:lnTo>
                    <a:pt x="3893829" y="0"/>
                  </a:lnTo>
                  <a:cubicBezTo>
                    <a:pt x="3908478" y="0"/>
                    <a:pt x="3920355" y="11876"/>
                    <a:pt x="3920355" y="26526"/>
                  </a:cubicBezTo>
                  <a:lnTo>
                    <a:pt x="3920355" y="945213"/>
                  </a:lnTo>
                  <a:cubicBezTo>
                    <a:pt x="3920355" y="959863"/>
                    <a:pt x="3908478" y="971739"/>
                    <a:pt x="3893829" y="971739"/>
                  </a:cubicBezTo>
                  <a:lnTo>
                    <a:pt x="26526" y="971739"/>
                  </a:lnTo>
                  <a:cubicBezTo>
                    <a:pt x="11876" y="971739"/>
                    <a:pt x="0" y="959863"/>
                    <a:pt x="0" y="945213"/>
                  </a:cubicBezTo>
                  <a:lnTo>
                    <a:pt x="0" y="26526"/>
                  </a:lnTo>
                  <a:cubicBezTo>
                    <a:pt x="0" y="11876"/>
                    <a:pt x="11876" y="0"/>
                    <a:pt x="26526" y="0"/>
                  </a:cubicBezTo>
                  <a:close/>
                </a:path>
              </a:pathLst>
            </a:custGeom>
            <a:solidFill>
              <a:srgbClr val="0B2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1"/>
            <p:cNvSpPr txBox="1"/>
            <p:nvPr/>
          </p:nvSpPr>
          <p:spPr>
            <a:xfrm>
              <a:off x="0" y="28575"/>
              <a:ext cx="3920354" cy="943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2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19" name="Google Shape;219;p11"/>
          <p:cNvSpPr txBox="1"/>
          <p:nvPr/>
        </p:nvSpPr>
        <p:spPr>
          <a:xfrm>
            <a:off x="1457125" y="3235232"/>
            <a:ext cx="15369900" cy="56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82600" algn="just" rtl="0">
              <a:lnSpc>
                <a:spcPct val="923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Char char="●"/>
            </a:pPr>
            <a:r>
              <a:rPr lang="en-US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Presents a parameter-efficient pipeline for cross-dataset domain generalization in multi-label retinal disease classification.</a:t>
            </a:r>
            <a:endParaRPr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82600" algn="just" rtl="0">
              <a:lnSpc>
                <a:spcPct val="923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Char char="●"/>
            </a:pPr>
            <a:r>
              <a:rPr lang="en-US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Trains on ODIR + RFMiD v2 and evaluates only on the unseen RFMiD v1 target domain to test real robustness.</a:t>
            </a:r>
            <a:endParaRPr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82600" algn="just" rtl="0">
              <a:lnSpc>
                <a:spcPct val="923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Char char="●"/>
            </a:pPr>
            <a:r>
              <a:rPr lang="en-US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an 8-label harmonized disease space, including an aggregated “Other” label to keep unmapped pathology signals.</a:t>
            </a:r>
            <a:endParaRPr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82600" algn="just" rtl="0">
              <a:lnSpc>
                <a:spcPct val="923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Char char="●"/>
            </a:pPr>
            <a:r>
              <a:rPr lang="en-US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an efficient RetinaEffCNN backbone with robustness training: inter-domain Mixup/CutMix, ASL with imbalance handling, and EMA.</a:t>
            </a:r>
            <a:endParaRPr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82600" algn="just" rtl="0">
              <a:lnSpc>
                <a:spcPct val="923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Char char="●"/>
            </a:pPr>
            <a:r>
              <a:rPr lang="en-US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show a trade-off: RetinaEffCNN gets the best test Macro-F1, while a stronger transformer (Swin-T) can lead on test mAUC.</a:t>
            </a:r>
            <a:endParaRPr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abf12a0b4_0_1"/>
          <p:cNvSpPr/>
          <p:nvPr/>
        </p:nvSpPr>
        <p:spPr>
          <a:xfrm>
            <a:off x="1028700" y="9258300"/>
            <a:ext cx="2343200" cy="166258"/>
          </a:xfrm>
          <a:custGeom>
            <a:avLst/>
            <a:gdLst/>
            <a:ahLst/>
            <a:cxnLst/>
            <a:rect l="l" t="t" r="r" b="b"/>
            <a:pathLst>
              <a:path w="2343200" h="166258" extrusionOk="0">
                <a:moveTo>
                  <a:pt x="0" y="0"/>
                </a:moveTo>
                <a:lnTo>
                  <a:pt x="2343200" y="0"/>
                </a:lnTo>
                <a:lnTo>
                  <a:pt x="2343200" y="166258"/>
                </a:lnTo>
                <a:lnTo>
                  <a:pt x="0" y="166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5" name="Google Shape;225;g3babf12a0b4_0_1"/>
          <p:cNvSpPr txBox="1"/>
          <p:nvPr/>
        </p:nvSpPr>
        <p:spPr>
          <a:xfrm>
            <a:off x="15358722" y="9248346"/>
            <a:ext cx="19005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10</a:t>
            </a:r>
            <a:endParaRPr/>
          </a:p>
        </p:txBody>
      </p:sp>
      <p:sp>
        <p:nvSpPr>
          <p:cNvPr id="226" name="Google Shape;226;g3babf12a0b4_0_1"/>
          <p:cNvSpPr/>
          <p:nvPr/>
        </p:nvSpPr>
        <p:spPr>
          <a:xfrm>
            <a:off x="1576638" y="1635508"/>
            <a:ext cx="3630502" cy="3630502"/>
          </a:xfrm>
          <a:custGeom>
            <a:avLst/>
            <a:gdLst/>
            <a:ahLst/>
            <a:cxnLst/>
            <a:rect l="l" t="t" r="r" b="b"/>
            <a:pathLst>
              <a:path w="3630502" h="3630502" extrusionOk="0">
                <a:moveTo>
                  <a:pt x="0" y="0"/>
                </a:moveTo>
                <a:lnTo>
                  <a:pt x="3630501" y="0"/>
                </a:lnTo>
                <a:lnTo>
                  <a:pt x="3630501" y="3630502"/>
                </a:lnTo>
                <a:lnTo>
                  <a:pt x="0" y="3630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27" name="Google Shape;227;g3babf12a0b4_0_1"/>
          <p:cNvSpPr/>
          <p:nvPr/>
        </p:nvSpPr>
        <p:spPr>
          <a:xfrm>
            <a:off x="876646" y="3403001"/>
            <a:ext cx="2287222" cy="2287222"/>
          </a:xfrm>
          <a:custGeom>
            <a:avLst/>
            <a:gdLst/>
            <a:ahLst/>
            <a:cxnLst/>
            <a:rect l="l" t="t" r="r" b="b"/>
            <a:pathLst>
              <a:path w="2287222" h="2287222" extrusionOk="0">
                <a:moveTo>
                  <a:pt x="0" y="0"/>
                </a:moveTo>
                <a:lnTo>
                  <a:pt x="2287222" y="0"/>
                </a:lnTo>
                <a:lnTo>
                  <a:pt x="2287222" y="2287222"/>
                </a:lnTo>
                <a:lnTo>
                  <a:pt x="0" y="2287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000"/>
            </a:blip>
            <a:stretch>
              <a:fillRect/>
            </a:stretch>
          </a:blipFill>
          <a:ln>
            <a:noFill/>
          </a:ln>
        </p:spPr>
      </p:sp>
      <p:sp>
        <p:nvSpPr>
          <p:cNvPr id="228" name="Google Shape;228;g3babf12a0b4_0_1"/>
          <p:cNvSpPr/>
          <p:nvPr/>
        </p:nvSpPr>
        <p:spPr>
          <a:xfrm>
            <a:off x="15840507" y="5370500"/>
            <a:ext cx="2837586" cy="3024558"/>
          </a:xfrm>
          <a:custGeom>
            <a:avLst/>
            <a:gdLst/>
            <a:ahLst/>
            <a:cxnLst/>
            <a:rect l="l" t="t" r="r" b="b"/>
            <a:pathLst>
              <a:path w="2837586" h="3024558" extrusionOk="0">
                <a:moveTo>
                  <a:pt x="0" y="0"/>
                </a:moveTo>
                <a:lnTo>
                  <a:pt x="2837586" y="0"/>
                </a:lnTo>
                <a:lnTo>
                  <a:pt x="2837586" y="3024558"/>
                </a:lnTo>
                <a:lnTo>
                  <a:pt x="0" y="3024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29" name="Google Shape;229;g3babf12a0b4_0_1"/>
          <p:cNvSpPr txBox="1"/>
          <p:nvPr/>
        </p:nvSpPr>
        <p:spPr>
          <a:xfrm>
            <a:off x="5369830" y="303964"/>
            <a:ext cx="7548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B2F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/>
          </a:p>
        </p:txBody>
      </p:sp>
      <p:grpSp>
        <p:nvGrpSpPr>
          <p:cNvPr id="230" name="Google Shape;230;g3babf12a0b4_0_1"/>
          <p:cNvGrpSpPr/>
          <p:nvPr/>
        </p:nvGrpSpPr>
        <p:grpSpPr>
          <a:xfrm>
            <a:off x="779400" y="1873450"/>
            <a:ext cx="16749517" cy="7895575"/>
            <a:chOff x="0" y="0"/>
            <a:chExt cx="3920400" cy="971775"/>
          </a:xfrm>
        </p:grpSpPr>
        <p:sp>
          <p:nvSpPr>
            <p:cNvPr id="231" name="Google Shape;231;g3babf12a0b4_0_1"/>
            <p:cNvSpPr/>
            <p:nvPr/>
          </p:nvSpPr>
          <p:spPr>
            <a:xfrm>
              <a:off x="0" y="0"/>
              <a:ext cx="3920355" cy="971739"/>
            </a:xfrm>
            <a:custGeom>
              <a:avLst/>
              <a:gdLst/>
              <a:ahLst/>
              <a:cxnLst/>
              <a:rect l="l" t="t" r="r" b="b"/>
              <a:pathLst>
                <a:path w="3920355" h="971739" extrusionOk="0">
                  <a:moveTo>
                    <a:pt x="26526" y="0"/>
                  </a:moveTo>
                  <a:lnTo>
                    <a:pt x="3893829" y="0"/>
                  </a:lnTo>
                  <a:cubicBezTo>
                    <a:pt x="3908478" y="0"/>
                    <a:pt x="3920355" y="11876"/>
                    <a:pt x="3920355" y="26526"/>
                  </a:cubicBezTo>
                  <a:lnTo>
                    <a:pt x="3920355" y="945213"/>
                  </a:lnTo>
                  <a:cubicBezTo>
                    <a:pt x="3920355" y="959863"/>
                    <a:pt x="3908478" y="971739"/>
                    <a:pt x="3893829" y="971739"/>
                  </a:cubicBezTo>
                  <a:lnTo>
                    <a:pt x="26526" y="971739"/>
                  </a:lnTo>
                  <a:cubicBezTo>
                    <a:pt x="11876" y="971739"/>
                    <a:pt x="0" y="959863"/>
                    <a:pt x="0" y="945213"/>
                  </a:cubicBezTo>
                  <a:lnTo>
                    <a:pt x="0" y="26526"/>
                  </a:lnTo>
                  <a:cubicBezTo>
                    <a:pt x="0" y="11876"/>
                    <a:pt x="11876" y="0"/>
                    <a:pt x="26526" y="0"/>
                  </a:cubicBezTo>
                  <a:close/>
                </a:path>
              </a:pathLst>
            </a:custGeom>
            <a:solidFill>
              <a:srgbClr val="0B2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g3babf12a0b4_0_1"/>
            <p:cNvSpPr txBox="1"/>
            <p:nvPr/>
          </p:nvSpPr>
          <p:spPr>
            <a:xfrm>
              <a:off x="0" y="28575"/>
              <a:ext cx="3920400" cy="94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2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33" name="Google Shape;233;g3babf12a0b4_0_1"/>
          <p:cNvSpPr txBox="1"/>
          <p:nvPr/>
        </p:nvSpPr>
        <p:spPr>
          <a:xfrm>
            <a:off x="1576650" y="3229814"/>
            <a:ext cx="15056700" cy="5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63550" algn="just" rtl="0">
              <a:lnSpc>
                <a:spcPct val="923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Times New Roman"/>
              <a:buChar char="●"/>
            </a:pPr>
            <a:r>
              <a:rPr lang="en-US" sz="3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clean ablation studies to measure how much each component (harmonization, mixing, ASL reweighting, EMA, FAST knobs) contributes.</a:t>
            </a:r>
            <a:endParaRPr sz="3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63550" algn="just" rtl="0">
              <a:lnSpc>
                <a:spcPct val="923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Times New Roman"/>
              <a:buChar char="●"/>
            </a:pPr>
            <a:r>
              <a:rPr lang="en-US" sz="3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calibration analysis using reliability metrics (ECE/Brier) and stronger thresholding / post-hoc calibration.</a:t>
            </a:r>
            <a:endParaRPr sz="3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63550" algn="just" rtl="0">
              <a:lnSpc>
                <a:spcPct val="923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Times New Roman"/>
              <a:buChar char="●"/>
            </a:pPr>
            <a:r>
              <a:rPr lang="en-US" sz="3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compute-aware upgrades such as TTA and lightweight ensembles.</a:t>
            </a:r>
            <a:endParaRPr sz="3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63550" algn="just" rtl="0">
              <a:lnSpc>
                <a:spcPct val="923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Times New Roman"/>
              <a:buChar char="●"/>
            </a:pPr>
            <a:r>
              <a:rPr lang="en-US" sz="3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Broaden evaluation to more external target datasets, plus deeper error/explainability checks for clinically plausible cues.</a:t>
            </a:r>
            <a:endParaRPr sz="3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63550" algn="just" rtl="0">
              <a:lnSpc>
                <a:spcPct val="923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Times New Roman"/>
              <a:buChar char="●"/>
            </a:pPr>
            <a:r>
              <a:rPr lang="en-US" sz="3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 initializing or distilling from recent retinal foundation / vision-language models (RETFound, RETFound-Green, FLAIR, EyeCLIP) guided by DG surveys for medical imaging.</a:t>
            </a:r>
            <a:endParaRPr sz="3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"/>
          <p:cNvSpPr/>
          <p:nvPr/>
        </p:nvSpPr>
        <p:spPr>
          <a:xfrm>
            <a:off x="1028700" y="9258300"/>
            <a:ext cx="2343200" cy="166258"/>
          </a:xfrm>
          <a:custGeom>
            <a:avLst/>
            <a:gdLst/>
            <a:ahLst/>
            <a:cxnLst/>
            <a:rect l="l" t="t" r="r" b="b"/>
            <a:pathLst>
              <a:path w="2343200" h="166258" extrusionOk="0">
                <a:moveTo>
                  <a:pt x="0" y="0"/>
                </a:moveTo>
                <a:lnTo>
                  <a:pt x="2343200" y="0"/>
                </a:lnTo>
                <a:lnTo>
                  <a:pt x="2343200" y="166258"/>
                </a:lnTo>
                <a:lnTo>
                  <a:pt x="0" y="166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9" name="Google Shape;239;p12"/>
          <p:cNvSpPr/>
          <p:nvPr/>
        </p:nvSpPr>
        <p:spPr>
          <a:xfrm>
            <a:off x="15358722" y="663529"/>
            <a:ext cx="1900578" cy="824779"/>
          </a:xfrm>
          <a:custGeom>
            <a:avLst/>
            <a:gdLst/>
            <a:ahLst/>
            <a:cxnLst/>
            <a:rect l="l" t="t" r="r" b="b"/>
            <a:pathLst>
              <a:path w="1900578" h="824779" extrusionOk="0">
                <a:moveTo>
                  <a:pt x="0" y="0"/>
                </a:moveTo>
                <a:lnTo>
                  <a:pt x="1900578" y="0"/>
                </a:lnTo>
                <a:lnTo>
                  <a:pt x="1900578" y="824778"/>
                </a:lnTo>
                <a:lnTo>
                  <a:pt x="0" y="824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0" name="Google Shape;240;p12"/>
          <p:cNvSpPr/>
          <p:nvPr/>
        </p:nvSpPr>
        <p:spPr>
          <a:xfrm>
            <a:off x="14051626" y="6005355"/>
            <a:ext cx="3207674" cy="7200900"/>
          </a:xfrm>
          <a:custGeom>
            <a:avLst/>
            <a:gdLst/>
            <a:ahLst/>
            <a:cxnLst/>
            <a:rect l="l" t="t" r="r" b="b"/>
            <a:pathLst>
              <a:path w="3207674" h="7200900" extrusionOk="0">
                <a:moveTo>
                  <a:pt x="0" y="0"/>
                </a:moveTo>
                <a:lnTo>
                  <a:pt x="3207674" y="0"/>
                </a:lnTo>
                <a:lnTo>
                  <a:pt x="3207674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41" name="Google Shape;241;p12"/>
          <p:cNvSpPr/>
          <p:nvPr/>
        </p:nvSpPr>
        <p:spPr>
          <a:xfrm>
            <a:off x="3772502" y="3116143"/>
            <a:ext cx="3630502" cy="3630502"/>
          </a:xfrm>
          <a:custGeom>
            <a:avLst/>
            <a:gdLst/>
            <a:ahLst/>
            <a:cxnLst/>
            <a:rect l="l" t="t" r="r" b="b"/>
            <a:pathLst>
              <a:path w="3630502" h="3630502" extrusionOk="0">
                <a:moveTo>
                  <a:pt x="0" y="0"/>
                </a:moveTo>
                <a:lnTo>
                  <a:pt x="3630501" y="0"/>
                </a:lnTo>
                <a:lnTo>
                  <a:pt x="3630501" y="3630501"/>
                </a:lnTo>
                <a:lnTo>
                  <a:pt x="0" y="36305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42" name="Google Shape;242;p12"/>
          <p:cNvSpPr/>
          <p:nvPr/>
        </p:nvSpPr>
        <p:spPr>
          <a:xfrm>
            <a:off x="11127953" y="3314773"/>
            <a:ext cx="2837586" cy="3024558"/>
          </a:xfrm>
          <a:custGeom>
            <a:avLst/>
            <a:gdLst/>
            <a:ahLst/>
            <a:cxnLst/>
            <a:rect l="l" t="t" r="r" b="b"/>
            <a:pathLst>
              <a:path w="2837586" h="3024558" extrusionOk="0">
                <a:moveTo>
                  <a:pt x="0" y="0"/>
                </a:moveTo>
                <a:lnTo>
                  <a:pt x="2837586" y="0"/>
                </a:lnTo>
                <a:lnTo>
                  <a:pt x="2837586" y="3024558"/>
                </a:lnTo>
                <a:lnTo>
                  <a:pt x="0" y="3024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43" name="Google Shape;243;p12"/>
          <p:cNvSpPr/>
          <p:nvPr/>
        </p:nvSpPr>
        <p:spPr>
          <a:xfrm>
            <a:off x="3072510" y="4883635"/>
            <a:ext cx="2287222" cy="2287222"/>
          </a:xfrm>
          <a:custGeom>
            <a:avLst/>
            <a:gdLst/>
            <a:ahLst/>
            <a:cxnLst/>
            <a:rect l="l" t="t" r="r" b="b"/>
            <a:pathLst>
              <a:path w="2287222" h="2287222" extrusionOk="0">
                <a:moveTo>
                  <a:pt x="0" y="0"/>
                </a:moveTo>
                <a:lnTo>
                  <a:pt x="2287222" y="0"/>
                </a:lnTo>
                <a:lnTo>
                  <a:pt x="2287222" y="2287222"/>
                </a:lnTo>
                <a:lnTo>
                  <a:pt x="0" y="2287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7999"/>
            </a:blip>
            <a:stretch>
              <a:fillRect/>
            </a:stretch>
          </a:blipFill>
          <a:ln>
            <a:noFill/>
          </a:ln>
        </p:spPr>
      </p:sp>
      <p:sp>
        <p:nvSpPr>
          <p:cNvPr id="244" name="Google Shape;244;p12"/>
          <p:cNvSpPr txBox="1"/>
          <p:nvPr/>
        </p:nvSpPr>
        <p:spPr>
          <a:xfrm>
            <a:off x="5392684" y="4343702"/>
            <a:ext cx="7502632" cy="1252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2">
                <a:solidFill>
                  <a:srgbClr val="0B2F3D"/>
                </a:solidFill>
                <a:latin typeface="Abril Fatface"/>
                <a:ea typeface="Abril Fatface"/>
                <a:cs typeface="Abril Fatface"/>
                <a:sym typeface="Abril Fatface"/>
              </a:rPr>
              <a:t>THANKS</a:t>
            </a:r>
            <a:endParaRPr/>
          </a:p>
        </p:txBody>
      </p:sp>
      <p:sp>
        <p:nvSpPr>
          <p:cNvPr id="245" name="Google Shape;245;p12"/>
          <p:cNvSpPr txBox="1"/>
          <p:nvPr/>
        </p:nvSpPr>
        <p:spPr>
          <a:xfrm>
            <a:off x="5741254" y="5829287"/>
            <a:ext cx="6805492" cy="39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88">
                <a:solidFill>
                  <a:srgbClr val="0B2F3D"/>
                </a:solidFill>
                <a:latin typeface="Roboto"/>
                <a:ea typeface="Roboto"/>
                <a:cs typeface="Roboto"/>
                <a:sym typeface="Roboto"/>
              </a:rPr>
              <a:t>FOR YOUR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Microsoft Office PowerPoint</Application>
  <PresentationFormat>Custom</PresentationFormat>
  <Paragraphs>112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Arial</vt:lpstr>
      <vt:lpstr>Roboto</vt:lpstr>
      <vt:lpstr>Abril Fatface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Mohiuddin Rashel</dc:creator>
  <cp:lastModifiedBy>Mithila Arman</cp:lastModifiedBy>
  <cp:revision>1</cp:revision>
  <dcterms:created xsi:type="dcterms:W3CDTF">2006-08-16T00:00:00Z</dcterms:created>
  <dcterms:modified xsi:type="dcterms:W3CDTF">2026-01-18T16:24:09Z</dcterms:modified>
</cp:coreProperties>
</file>